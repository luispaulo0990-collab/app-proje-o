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 nova ferramenta de projeção físico-financeira que substitui gradualmente a planilha Painel de Obras.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reproduz a lógica da aba Painel (2): cada obra com avanço físico e taxa mês a mês. A diferença é que o cálculo fica num só lugar e tudo é rastreado.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geral. Os próximos slides detalham cada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curva de projeção permite reusar a mesma curva em muitas obras sem perder o histórico de projeções antigas.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Alterar orçamento, taxa, curva, início ou duração regenera a projeção automaticamente. Se a obra tiver ajustes manuais, ela é marcada para revisão em vez de sobrescrever.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curva tem número de meses diferente da obra (ex.: curva 22 meses, obra 24), o motor reamostra proporcionalmente. Só administradores criam e alteram curvas.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campo Referência permite ver os KPIs como se estivéssemos em outro mês. A edição direta nas células, estilo Excel, é a Fase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Opções do diálogo: Cancelar, Recalcular preservando ajustes, Recalcular substituindo ajustes. Nada é perdido porque cada recálculo cria uma nova 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totais vêm do motor de cálculo; a tela só exibe. Conferência com a planilha: taxa total da carteira R$ 97.125.729,82 contra R$ 97.125.729,51 na coluna Taxa ADM Prevista (diferença de R$ 0,31 pelo arredondamento da % de taxa em 8 casas). A quantidade de obras ativas por mês bate com a linha Qtd Obras da planilha. A grade abre posicionada no mês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em verde vêm da curva própria; os demais, da paramétrica. Ajustes manuais nunca são sobrescritos: a obra fica marcada para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a autorização não sai, as curvas próprias vêm da aba Painel (2) do Painel de obras.xlsx (37 obras carregadas) e também podem ser lançadas manualmente na aba Curva da obra (colando do Excel). A importação também pode rodar agendada no servidor, todo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Outras regras: a taxa pode ter defasagem configurável por obra (recebimento 1–3 meses após o avanço); percentuais guardados com 8 casas; valores em R$ com 2 casas.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Senhas criptografadas (Argon2id), sessão com expiração e renovação segura, HTTPS em produção. O primeiro usuário vira administrador; os demais entram como visualizadores até serem promovidos.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navegador não calcula: ele só mostra o que a API devolve. Por isso tela, API e futuros relatórios sempre batem.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item 1 depende do administrador da Microsoft 365. Os demais seguem o plano de fases da especificação.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Dúvidas e sugestões: Controladoria.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unita-projecoes/apps/web/src/assets/brand/pattern-un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3108960" y="3611880"/>
            <a:ext cx="6035040" cy="859436"/>
          </a:xfrm>
          <a:prstGeom prst="rect">
            <a:avLst/>
          </a:prstGeom>
        </p:spPr>
      </p:pic>
      <p:pic>
        <p:nvPicPr>
          <p:cNvPr id="3" name="Image 1" descr="/home/claude/work/unita-projecoes/apps/web/src/assets/brand/logo-unita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737360" cy="67185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Obras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físico-financeira da carteira de obras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880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ferramenta funciona: módulos, regras de cálculo, integração e próximos passos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1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 · Setembro/2026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planilha ao sistema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lógica do "Painel de obras.xlsx", agora com uma base confiável e rastreável.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0EEEC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727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7716D"/>
          </a:solidFill>
          <a:ln w="12700">
            <a:solidFill>
              <a:srgbClr val="7771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6733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planilha Excel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2402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quebradas (#REF!) e regras repetidas em várias abas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histórico: não se sabe quem mudou o quê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copiadas e alteradas obra a obra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a carteira exige trabalho manual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487168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37760" y="1371600"/>
            <a:ext cx="37490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166360" y="15727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167335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Painel de Obras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166360" y="22402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motor de cálculo, testado automaticamente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alteração versionada e registrada no histórico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padrão com versões — obras não mudam sem aviso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da carteira gerado na hora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ferramenta faz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módulos, todos acessíveis pelo menu superior e pela ficha de cada obra.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08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1601297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5636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057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orçamento, % de taxa, curva, início e duração. Término calculado.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6898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51860" y="1508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397" y="160129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00500" y="15636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Curvas paramétricas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51860" y="2057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avanço físico, validados e versionados (V1, V2…).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8076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63640" y="1508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177" y="1601297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2280" y="15636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da obra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2057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Avanço e taxa mês a mês, KPIs, ajustes manuais e recálculo.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324612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17" y="333865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88720" y="33009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todas as obras: taxa por mês e ano, recebida × a receber.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326898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451860" y="324612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397" y="3338657"/>
            <a:ext cx="235549" cy="23554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000500" y="33009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Curvas das obras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345186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em vigor de cada obra: paramétrica ou própria da obra.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08076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263640" y="324612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177" y="3338657"/>
            <a:ext cx="235549" cy="235549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812280" y="33009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SharePoint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626364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a curva replanejada das obras iniciadas (BD_Infos Gerais).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uma projeção nasce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o modelo; a projeção é esse modelo aplicado a uma obra.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7007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D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paramétrica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% do avanço físico por mês (ex.: Curva Padrão 22 meses, V1).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2468880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560320" y="14173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743200" y="16002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170078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74904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D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274320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74320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raso, % taxa, defasagem, data de início e duração.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468880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663440" y="14173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846320" y="16002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170078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85216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D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16"/>
          <p:cNvSpPr txBox="1"/>
          <p:nvPr/>
        </p:nvSpPr>
        <p:spPr>
          <a:xfrm>
            <a:off x="484632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cálculo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484632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os meses, aplica a curva e distribui a taxa, centavo a centavo.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2468880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766560" y="141732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6949440" y="16002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024" y="1700784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95528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D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Text 21"/>
          <p:cNvSpPr txBox="1"/>
          <p:nvPr/>
        </p:nvSpPr>
        <p:spPr>
          <a:xfrm>
            <a:off x="694944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versionada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694944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ao criar a obra; V2, V3… a cada recálculo ou ajuste.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1EA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40080" y="4050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curva, várias obras: alterar a curva cria nova versão, e as obras continuam usando a versão com que foram calculadas até alguém recalcular.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da carteira com as informações principais e as ações de cada obra.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533632" y="1252728"/>
            <a:ext cx="6076737" cy="2295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shots/c-ob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064" y="1280160"/>
            <a:ext cx="6021873" cy="2240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7947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3879251"/>
            <a:ext cx="215067" cy="21506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960120" y="4023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cliente, unidades, orçamento, % taxa, sistema construtivo e curva.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46120" y="37947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611" y="3879251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74904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Término calculado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3749040" y="4023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+ duração → término e nº de períodos (01/01/27 + 24 = 31/12/28).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35040" y="37947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531" y="3879251"/>
            <a:ext cx="215067" cy="215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3796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seguras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537960" y="4023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Duplicar, arquivar e excluir — exclusão só sem ajustes manuais.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Curvas paramétricas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padrão de avanço físico, com validação e versionamento.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29768" y="1571101"/>
            <a:ext cx="4901184" cy="2755678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shots/c-cur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8533"/>
            <a:ext cx="4846320" cy="2700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0" y="1371600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794" y="1460114"/>
            <a:ext cx="225308" cy="2253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1792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automática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6217920" y="1645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mensal ≥ 0, acumulado nunca diminui e termina em 100%.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669280" y="2468880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794" y="2557394"/>
            <a:ext cx="225308" cy="2253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17920" y="2450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do Excel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621792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 coluna de % mensal ou acumulado; botão "Normalizar para 100%".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669280" y="3566160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794" y="3654674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17920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 imutáveis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uma curva cria V2, V3… As obras mantêm a versão que usam.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da obra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no eixo horizontal, séries no vertical — como na planilha.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50168" y="1252728"/>
            <a:ext cx="7043664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shots/c-proje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00" y="1280160"/>
            <a:ext cx="6988800" cy="2377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88620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3970691"/>
            <a:ext cx="215067" cy="21506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3840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960120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projetada, realizada até a referência, a receber, % físico e duração.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46120" y="388620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611" y="3970691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749040" y="3840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mensal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3749040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Avanço físico e taxa, mensal e acumulado; mês de referência destacado.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35040" y="388620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531" y="3970691"/>
            <a:ext cx="215067" cy="215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37960" y="3840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da obra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537960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Projeção, Informações, Curva, Histórico e Configurações na lateral.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manuais e recálculo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manual nunca é sobrescrito sem confirmação.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célula guarda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7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7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— MAR/27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original (curva)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8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" y="3429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manuais aparecem em amarelo e cada mudança vai para o Histórico: usuário, data/hora, campo, valor anterior e novo.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clicar em Recalcular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0" y="18288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36592" y="20116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77716D"/>
          </a:solidFill>
          <a:ln w="12700">
            <a:solidFill>
              <a:srgbClr val="77716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29" y="210421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194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"Existem 7 valores ajustados manualmente…"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0" y="2761488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36592" y="29443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29" y="3036905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0352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Preservar ajustes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303520" y="31272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os manuais e redistribui o restante pela curva — total segue 100%.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0" y="3694176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36592" y="387705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29" y="3969593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03520" y="37856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 ajustes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303520" y="405993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tudo à curva. Os ajustes antigos ficam na versão anterior.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equivalente à aba "Painel (2)": toda a carteira numa só tela.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29768" y="1404175"/>
            <a:ext cx="5449824" cy="3089529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shots/c-consolid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1607"/>
            <a:ext cx="5394960" cy="30346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2200" y="1371600"/>
            <a:ext cx="274320" cy="274320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722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1325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 fixo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1600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no mês, acumulado no ano (zera em janeiro) e qtd. de obras ativas.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2194560"/>
            <a:ext cx="274320" cy="274320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722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linhas por obra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423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Avanço físico (%) e taxa (R$), com o mês de referência destacado.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3017520"/>
            <a:ext cx="274320" cy="274320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7220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Recebida × a receber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referência (inclusive) × meses seguintes. A soma fecha com a prevista.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2200" y="3840480"/>
            <a:ext cx="274320" cy="274320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7220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 por ano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069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taxa de cada ano da carteira.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Curvas das obras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curva vale para cada obra. Hoje as 37 obras usam a curva da aba Painel (2) da planilha.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usada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7335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0EEEC"/>
          </a:solidFill>
          <a:ln w="12700">
            <a:solidFill>
              <a:srgbClr val="F0EE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73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paramétrica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1892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de início depois da referência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3865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3865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própria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própria da obra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Iniciada, com curva recebida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4E3"/>
          </a:solidFill>
          <a:ln w="12700">
            <a:solidFill>
              <a:srgbClr val="FDF4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0998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API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240280" y="30266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Paramétrica, provisoriamente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240280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iniciada sem curva recebida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1EA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90448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própria recalcula a taxa (receita) e usa o início e a duração dela — atrasos aparecem no término projetado. "Sincronizar projeções" atualiza as obras cuja curva em vigor mudou.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64608" y="1854232"/>
            <a:ext cx="3849624" cy="2189417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1" descr="/tmp/shots/c-curvas-ob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81664"/>
            <a:ext cx="3794760" cy="21345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o SharePoint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trazer as curvas replanejadas direto da planilha de planejamento, sem digitação.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48132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1573865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 Físico - Obras.xlsx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4505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BD_Infos Gerais · coluna "Replanejado Atual Acumulado - Obra"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2148840"/>
            <a:ext cx="201168" cy="2011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560320" y="132588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2743200" y="148132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737" y="1573865"/>
            <a:ext cx="235549" cy="23554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74320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2743200" y="24505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segura, credenciais só no servidor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148840"/>
            <a:ext cx="201168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63440" y="132588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846320" y="148132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857" y="1573865"/>
            <a:ext cx="235549" cy="235549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4632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no Painel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4846320" y="24505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pelo nome padrão da obra; acumulado não diminui e fecha 100%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2148840"/>
            <a:ext cx="201168" cy="20116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766560" y="132588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6949440" y="148132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1977" y="1573865"/>
            <a:ext cx="235549" cy="235549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94944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própria versionada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6949440" y="24505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e Consolidado atualizados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457200" y="34290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0EEEC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tela "Curvas das obras"</a:t>
            </a:r>
            <a:endParaRPr lang="en-US" sz="1250" dirty="0"/>
          </a:p>
        </p:txBody>
      </p:sp>
      <p:sp>
        <p:nvSpPr>
          <p:cNvPr id="31" name="Text 21"/>
          <p:cNvSpPr txBox="1"/>
          <p:nvPr/>
        </p:nvSpPr>
        <p:spPr>
          <a:xfrm>
            <a:off x="640080" y="38130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Simular: mostra o que seria importado, sem gravar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curvas: cria nova versão só quando a curva mudou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obras sem cadastro e curvas rejeitadas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4709160" y="34290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DF4E3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4873752" y="359359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8243" y="3678083"/>
            <a:ext cx="215067" cy="215067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39496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Pendente: autorização no Azure</a:t>
            </a:r>
            <a:endParaRPr lang="en-US" sz="1250" dirty="0"/>
          </a:p>
        </p:txBody>
      </p:sp>
      <p:sp>
        <p:nvSpPr>
          <p:cNvPr id="36" name="Text 25"/>
          <p:cNvSpPr txBox="1"/>
          <p:nvPr/>
        </p:nvSpPr>
        <p:spPr>
          <a:xfrm>
            <a:off x="5394960" y="382219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administrador precisa registrar o app no Entra ID com permissão de leitura do site. Não usamos BD_Físico por atividade nem BD_Orc (orçamento ainda em validação).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cálculo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Determinísticas, documentadas e cobertas por testes automáticos.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R$ 3.976.901,10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total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77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raso × % taxa. Ex.: 44.187.790,05 × 9%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9204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fecha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377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Arredondamento pelo maior resto: meses somam 100% e a taxa fecha no centavo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8580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de ponto flutuante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069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em decimal exato, do banco à tela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89204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automáticos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4069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API e formatação validados a cada mudança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e perfis de acesso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vê e faz apenas o que seu perfil permite.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08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1601297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4688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Editor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versiona curvas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usuários e exclusões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468880" y="13258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51760" y="1508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97" y="160129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24688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edita obras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e recalcula projeções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curvas próprias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480560" y="13258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63440" y="1508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77716D"/>
          </a:solidFill>
          <a:ln w="12700">
            <a:solidFill>
              <a:srgbClr val="77716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977" y="1601297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634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Visualizador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663440" y="24688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obras, curvas e consolidado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alterações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537960" y="1325880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F0EEEC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720840" y="1508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377" y="160129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7208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72084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· 28/09/2026 10:32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Residencial Alpha · MAR/27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→ 18% · Manual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672084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de curvas e projeções nunca são apagadas: dá para saber quem mudou, quando e com quais parâmetros.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 hospedagem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Preparada para a Hostinger (VPS) e para integrar Power BI, Excel e ERP no futuro.</a:t>
            </a:r>
            <a:endParaRPr lang="en-US" sz="1300" dirty="0"/>
          </a:p>
        </p:txBody>
      </p:sp>
      <p:pic>
        <p:nvPicPr>
          <p:cNvPr id="4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1627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17282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web (React)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057400"/>
            <a:ext cx="384048" cy="38404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651760" y="14630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46120" y="1627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72821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74320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/api/v1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274320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Regras, perfis e auditoria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057400"/>
            <a:ext cx="384048" cy="38404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846320" y="14630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1EA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440680" y="1627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1728216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93776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cálculo</a:t>
            </a:r>
            <a:endParaRPr lang="en-US" sz="1250" dirty="0"/>
          </a:p>
        </p:txBody>
      </p:sp>
      <p:sp>
        <p:nvSpPr>
          <p:cNvPr id="22" name="Text 14"/>
          <p:cNvSpPr txBox="1"/>
          <p:nvPr/>
        </p:nvSpPr>
        <p:spPr>
          <a:xfrm>
            <a:off x="493776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única dos números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057400"/>
            <a:ext cx="384048" cy="38404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040880" y="146304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F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7635240" y="16276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1728216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3232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PostgreSQL</a:t>
            </a:r>
            <a:endParaRPr lang="en-US" sz="1250" dirty="0"/>
          </a:p>
        </p:txBody>
      </p:sp>
      <p:sp>
        <p:nvSpPr>
          <p:cNvPr id="28" name="Text 18"/>
          <p:cNvSpPr txBox="1"/>
          <p:nvPr/>
        </p:nvSpPr>
        <p:spPr>
          <a:xfrm>
            <a:off x="713232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e histórico</a:t>
            </a:r>
            <a:endParaRPr lang="en-US" sz="1050" dirty="0"/>
          </a:p>
        </p:txBody>
      </p:sp>
      <p:sp>
        <p:nvSpPr>
          <p:cNvPr id="29" name="Text 19"/>
          <p:cNvSpPr txBox="1"/>
          <p:nvPr/>
        </p:nvSpPr>
        <p:spPr>
          <a:xfrm>
            <a:off x="45720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Hostinger VPS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457200" y="3611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com HTTPS, API em Node.js e PostgreSQL no mesmo domínio (/api).</a:t>
            </a:r>
            <a:endParaRPr lang="en-US" sz="1150" dirty="0"/>
          </a:p>
        </p:txBody>
      </p:sp>
      <p:sp>
        <p:nvSpPr>
          <p:cNvPr id="31" name="Text 21"/>
          <p:cNvSpPr txBox="1"/>
          <p:nvPr/>
        </p:nvSpPr>
        <p:spPr>
          <a:xfrm>
            <a:off x="324612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3246120" y="3611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já conectado; Power BI e Excel podem ler a mesma API.</a:t>
            </a:r>
            <a:endParaRPr lang="en-US" sz="1150" dirty="0"/>
          </a:p>
        </p:txBody>
      </p:sp>
      <p:sp>
        <p:nvSpPr>
          <p:cNvPr id="33" name="Text 23"/>
          <p:cNvSpPr txBox="1"/>
          <p:nvPr/>
        </p:nvSpPr>
        <p:spPr>
          <a:xfrm>
            <a:off x="603504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Portável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6035040" y="3611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migrar para outra nuvem sem reescrever o motor de cálculo.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e próximos passos</a:t>
            </a:r>
            <a:endParaRPr lang="en-US" sz="2600" dirty="0"/>
          </a:p>
        </p:txBody>
      </p:sp>
      <p:pic>
        <p:nvPicPr>
          <p:cNvPr id="3" name="Image 0" descr="/home/claude/work/unita-projecoes/apps/web/src/assets/brand/symbol-u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384048" cy="1901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Obras · Unità Engenharia   15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E7F5EC"/>
          </a:solidFill>
          <a:ln w="9525">
            <a:solidFill>
              <a:srgbClr val="E2DF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1691640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1E8A4C"/>
          </a:solidFill>
          <a:ln w="12700">
            <a:solidFill>
              <a:srgbClr val="1E8A4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74" y="1756014"/>
            <a:ext cx="163860" cy="1638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6733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cadastro e perfis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85800" y="2240280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1E8A4C"/>
          </a:solidFill>
          <a:ln w="12700">
            <a:solidFill>
              <a:srgbClr val="1E8A4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74" y="2304654"/>
            <a:ext cx="163860" cy="1638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2219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Obras, curvas e projeções versionadas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85800" y="2788920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1E8A4C"/>
          </a:solidFill>
          <a:ln w="12700">
            <a:solidFill>
              <a:srgbClr val="1E8A4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74" y="2853294"/>
            <a:ext cx="163860" cy="1638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770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e Curvas das obras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85800" y="3337560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1E8A4C"/>
          </a:solidFill>
          <a:ln w="12700">
            <a:solidFill>
              <a:srgbClr val="1E8A4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4" y="3401934"/>
            <a:ext cx="163860" cy="1638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319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obras reais da planilha carregadas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85800" y="3886200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1E8A4C"/>
          </a:solidFill>
          <a:ln w="12700">
            <a:solidFill>
              <a:srgbClr val="1E8A4C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174" y="3950574"/>
            <a:ext cx="163860" cy="1638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38679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SharePoint pronta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384048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3840480" y="1645920"/>
            <a:ext cx="365760" cy="365760"/>
          </a:xfrm>
          <a:prstGeom prst="ellipse">
            <a:avLst/>
          </a:prstGeom>
          <a:solidFill>
            <a:srgbClr val="FE5000"/>
          </a:solidFill>
          <a:ln w="15875">
            <a:solidFill>
              <a:srgbClr val="FE5000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38404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4389120" y="16184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no Azure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4389120" y="1874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1ª importação das curvas reais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840480" y="2249424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E5000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384048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4389120" y="2221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editável estilo Excel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4389120" y="2478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Enter, Tab, setas, copiar/colar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3840480" y="285292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E5000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384048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389120" y="28254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versões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389120" y="30815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tela de usuários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3840480" y="3456432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E5000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84048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4389120" y="3429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BD_Orc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4389120" y="3685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trazer o orçamento da planilha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3840480" y="405993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E5000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84048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4389120" y="4032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na Hostinger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4389120" y="42885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domínio próprio e HTTPS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testar agora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20624" cy="420624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Instale o Node.js LTS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nodejs.org (uma vez só)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iniciar-demo.bat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pasta unita-projecoes (duplo clique)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20624" cy="420624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 localhost:3333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sua conta — a primeira vira administradora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420624" cy="420624"/>
          </a:xfrm>
          <a:prstGeom prst="ellipse">
            <a:avLst/>
          </a:prstGeom>
          <a:solidFill>
            <a:srgbClr val="FE5000"/>
          </a:solidFill>
          <a:ln w="12700">
            <a:solidFill>
              <a:srgbClr val="FE5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37 obras da planilha Painel de Obras já carregadas</a:t>
            </a:r>
            <a:endParaRPr lang="en-US" sz="1150" dirty="0"/>
          </a:p>
        </p:txBody>
      </p:sp>
      <p:pic>
        <p:nvPicPr>
          <p:cNvPr id="19" name="Image 0" descr="/tmp/shots/c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00187"/>
            <a:ext cx="3931920" cy="221170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demonstração: banco local, não é o ambiente de produção.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Unità Engenharia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Obras Unità — Apresentação da ferramenta</dc:title>
  <dc:subject>PptxGenJS Presentation</dc:subject>
  <dc:creator>PptxGenJS</dc:creator>
  <cp:lastModifiedBy>PptxGenJS</cp:lastModifiedBy>
  <cp:revision>1</cp:revision>
  <dcterms:created xsi:type="dcterms:W3CDTF">2026-09-29T21:32:07Z</dcterms:created>
  <dcterms:modified xsi:type="dcterms:W3CDTF">2026-09-29T21:32:07Z</dcterms:modified>
</cp:coreProperties>
</file>